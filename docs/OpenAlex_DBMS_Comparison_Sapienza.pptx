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pienza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4480560" cy="13459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2057400"/>
            <a:ext cx="996696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400" b="1">
                <a:solidFill>
                  <a:srgbClr val="52121E"/>
                </a:solidFill>
                <a:latin typeface="Arial"/>
              </a:rPr>
              <a:t>Comparison between PostgreSQL and Neo4j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51760"/>
            <a:ext cx="9875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0">
                <a:solidFill>
                  <a:srgbClr val="1A202C"/>
                </a:solidFill>
                <a:latin typeface="Arial"/>
              </a:rPr>
              <a:t>OpenAlex AI research paper retrieval and knowledge graph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37560"/>
            <a:ext cx="4572000" cy="1143000"/>
          </a:xfrm>
          <a:prstGeom prst="roundRect">
            <a:avLst/>
          </a:prstGeom>
          <a:solidFill>
            <a:srgbClr val="FAF7F7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5387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Group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58768"/>
            <a:ext cx="3840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Hamza Abdul Kader - 2230150</a:t>
            </a:r>
            <a:br/>
            <a:r>
              <a:t>Leonardo Marasca - 2217140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42062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C6876"/>
                </a:solidFill>
                <a:latin typeface="Arial"/>
              </a:rPr>
              <a:t>Data Management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608076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400" b="0">
                <a:solidFill>
                  <a:srgbClr val="5C6876"/>
                </a:solidFill>
                <a:latin typeface="Arial"/>
              </a:rPr>
              <a:t>Sapienza Universita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Project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we compare and why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292608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Main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1952"/>
            <a:ext cx="4754880" cy="9144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500" b="1">
                <a:solidFill>
                  <a:srgbClr val="1A202C"/>
                </a:solidFill>
                <a:latin typeface="Arial"/>
              </a:rPr>
              <a:t>Which database model is more suitable for AI research paper data: a relational DBMS or a graph database?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508760"/>
            <a:ext cx="5303520" cy="4251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783080"/>
            <a:ext cx="41148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Comparison dimensions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267712"/>
            <a:ext cx="4526280" cy="2103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2000"/>
            </a:pPr>
            <a:r>
              <a:rPr sz="2000" b="0">
                <a:solidFill>
                  <a:srgbClr val="1A202C"/>
                </a:solidFill>
                <a:latin typeface="Arial"/>
              </a:rPr>
              <a:t>- Data modeling</a:t>
            </a:r>
            <a:br/>
            <a:r>
              <a:rPr sz="2000">
                <a:solidFill>
                  <a:srgbClr val="1A202C"/>
                </a:solidFill>
              </a:rPr>
              <a:t>- Query expressiveness</a:t>
            </a:r>
            <a:br/>
            <a:r>
              <a:rPr sz="2000">
                <a:solidFill>
                  <a:srgbClr val="1A202C"/>
                </a:solidFill>
              </a:rPr>
              <a:t>- Query complexity</a:t>
            </a:r>
            <a:br/>
            <a:r>
              <a:rPr sz="2000">
                <a:solidFill>
                  <a:srgbClr val="1A202C"/>
                </a:solidFill>
              </a:rPr>
              <a:t>- Execution time</a:t>
            </a:r>
            <a:br/>
            <a:r>
              <a:rPr sz="2000">
                <a:solidFill>
                  <a:srgbClr val="1A202C"/>
                </a:solidFill>
              </a:rPr>
              <a:t>- Fit for relationship-heavy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Dataset Source: OpenAlex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Open catalog of scholarly works, authors, topics, and citations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14778"/>
            <a:ext cx="5358383" cy="2565602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openalex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2210"/>
            <a:ext cx="5303520" cy="2510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36207" y="1717327"/>
            <a:ext cx="5358384" cy="35605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openalex_data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44759"/>
            <a:ext cx="5303520" cy="3505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15000"/>
            <a:ext cx="10515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800" b="1">
                <a:solidFill>
                  <a:srgbClr val="1A202C"/>
                </a:solidFill>
                <a:latin typeface="Arial"/>
              </a:rPr>
              <a:t>Used through the OpenAlex API; subset focused on AI, ML, LLM, and RAG-related papers.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Pipeline Followed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data source to benchmark conclusions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43" y="1143000"/>
            <a:ext cx="9342233" cy="5257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ETL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raw OpenAlex data became database-ready files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4846320" cy="4434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Python 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425196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Search OpenAlex works by AI/RAG terms</a:t>
            </a:r>
            <a:br/>
            <a:r>
              <a:rPr sz="1700">
                <a:solidFill>
                  <a:srgbClr val="1A202C"/>
                </a:solidFill>
              </a:rPr>
              <a:t>- Store raw API responses as JSONL</a:t>
            </a:r>
            <a:br/>
            <a:r>
              <a:rPr sz="1700">
                <a:solidFill>
                  <a:srgbClr val="1A202C"/>
                </a:solidFill>
              </a:rPr>
              <a:t>- Normalize nested JSON into CSV files</a:t>
            </a:r>
            <a:br/>
            <a:r>
              <a:rPr sz="1700">
                <a:solidFill>
                  <a:srgbClr val="1A202C"/>
                </a:solidFill>
              </a:rPr>
              <a:t>- Reconstruct abstracts from inverted indexes</a:t>
            </a:r>
            <a:br/>
            <a:r>
              <a:rPr sz="1700">
                <a:solidFill>
                  <a:srgbClr val="1A202C"/>
                </a:solidFill>
              </a:rPr>
              <a:t>- Load the same CSVs into both databases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417320"/>
            <a:ext cx="5440680" cy="443484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664208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Problems solved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2148840"/>
          <a:ext cx="4892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97480"/>
              </a:tblGrid>
              <a:tr h="6858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82233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Missing abstracts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Reconstruct from inverted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Nested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Normalize into CSV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External citations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2C"/>
                          </a:solidFill>
                        </a:defRPr>
                      </a:pPr>
                      <a:r>
                        <a:t>Keep internal citation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Normalized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Current OpenAlex sample used in both databases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1,966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044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Authors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41732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53619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1,104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166420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Topics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2,077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Paper-author links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4,288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Paper-topic links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651760"/>
            <a:ext cx="3246120" cy="8229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7D6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9" y="2770632"/>
            <a:ext cx="128016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600" b="1">
                <a:solidFill>
                  <a:srgbClr val="52121E"/>
                </a:solidFill>
                <a:latin typeface="Arial"/>
              </a:rPr>
              <a:t>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898648"/>
            <a:ext cx="16002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Citation links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8860" y="4041648"/>
            <a:ext cx="4203798" cy="165506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_processed_csv_fil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292" y="4069080"/>
            <a:ext cx="4148934" cy="16002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Relational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Normalized tables and bridge tables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1425657"/>
            <a:ext cx="5815583" cy="423528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ostgreSQL 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53089"/>
            <a:ext cx="5760720" cy="41804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325880"/>
            <a:ext cx="4526280" cy="438912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1627632"/>
            <a:ext cx="228600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057400"/>
            <a:ext cx="3474720" cy="21945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900"/>
            </a:pPr>
            <a:r>
              <a:rPr sz="1900" b="0">
                <a:solidFill>
                  <a:srgbClr val="1A202C"/>
                </a:solidFill>
                <a:latin typeface="Arial"/>
              </a:rPr>
              <a:t>- papers</a:t>
            </a:r>
            <a:br/>
            <a:r>
              <a:rPr sz="1900">
                <a:solidFill>
                  <a:srgbClr val="1A202C"/>
                </a:solidFill>
              </a:rPr>
              <a:t>- authors</a:t>
            </a:r>
            <a:br/>
            <a:r>
              <a:rPr sz="1900">
                <a:solidFill>
                  <a:srgbClr val="1A202C"/>
                </a:solidFill>
              </a:rPr>
              <a:t>- topics</a:t>
            </a:r>
            <a:br/>
            <a:r>
              <a:rPr sz="1900">
                <a:solidFill>
                  <a:srgbClr val="1A202C"/>
                </a:solidFill>
              </a:rPr>
              <a:t>- paper_authors</a:t>
            </a:r>
            <a:br/>
            <a:r>
              <a:rPr sz="1900">
                <a:solidFill>
                  <a:srgbClr val="1A202C"/>
                </a:solidFill>
              </a:rPr>
              <a:t>- paper_topics</a:t>
            </a:r>
            <a:br/>
            <a:r>
              <a:rPr sz="1900">
                <a:solidFill>
                  <a:srgbClr val="1A202C"/>
                </a:solidFill>
              </a:rPr>
              <a:t>-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4800600"/>
            <a:ext cx="365760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structured joins and aggregations with SQL.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Graph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Nodes and relationships are first-class objects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86451"/>
            <a:ext cx="6547103" cy="3450857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3883"/>
            <a:ext cx="6492240" cy="33959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06640" y="1417320"/>
            <a:ext cx="3749039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9248" y="1691640"/>
            <a:ext cx="24688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Graph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148840"/>
            <a:ext cx="3108960" cy="1600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500"/>
            </a:pPr>
            <a:r>
              <a:rPr sz="1500" b="0">
                <a:solidFill>
                  <a:srgbClr val="1A202C"/>
                </a:solidFill>
                <a:latin typeface="Arial"/>
              </a:rPr>
              <a:t>- (Author)-[:AUTHORED]-&gt;(Paper)</a:t>
            </a:r>
            <a:br/>
            <a:r>
              <a:rPr sz="1500">
                <a:solidFill>
                  <a:srgbClr val="1A202C"/>
                </a:solidFill>
              </a:rPr>
              <a:t>- (Paper)-[:HAS_TOPIC]-&gt;(Topic)</a:t>
            </a:r>
            <a:br/>
            <a:r>
              <a:rPr sz="1500">
                <a:solidFill>
                  <a:srgbClr val="1A202C"/>
                </a:solidFill>
              </a:rPr>
              <a:t>- (Paper)-[:CITES]-&gt;(Paper)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4526280"/>
            <a:ext cx="306324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Strength: relationship-heavy traversal and visual graph exploration.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Implementation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Local reproducible environment with Docker Compose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367" y="1389888"/>
            <a:ext cx="10838225" cy="179222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ke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99" y="1417320"/>
            <a:ext cx="10783361" cy="1737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PostgreSQL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Relational DBMS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Neo4j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Graph database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03320"/>
            <a:ext cx="2926080" cy="100584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886200"/>
            <a:ext cx="21031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Adminer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251960"/>
            <a:ext cx="210312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1A202C"/>
                </a:solidFill>
                <a:latin typeface="Arial"/>
              </a:rPr>
              <a:t>PostgreSQL UI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PostgreSQL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Tables and SQL query result in Adminer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66811"/>
            <a:ext cx="6775703" cy="3653561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QL Query 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94243"/>
            <a:ext cx="6720840" cy="359869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35240" y="1508760"/>
            <a:ext cx="3474720" cy="150876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200">
                <a:solidFill>
                  <a:srgbClr val="0F0F0F"/>
                </a:solidFill>
                <a:latin typeface="Consolas"/>
              </a:defRPr>
            </a:pPr>
            <a:r>
              <a:t>SELECT title, publication_year, cited_by_count</a:t>
            </a:r>
            <a:br/>
            <a:r>
              <a:t>FROM papers</a:t>
            </a:r>
            <a:br/>
            <a:r>
              <a:t>ORDER BY cited_by_count DESC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352044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This query uses the relational table of papers and orders by citation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3786" y="4407407"/>
            <a:ext cx="2791907" cy="128930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greSQL 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218" y="4434840"/>
            <a:ext cx="2737043" cy="1234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Author-Paper-Topic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Graph query with visible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6669"/>
            <a:ext cx="7370064" cy="3630420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oj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4101"/>
            <a:ext cx="7315200" cy="35755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508760"/>
            <a:ext cx="2834640" cy="1874519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(a:Author)-[:AUTHORED]-&gt;</a:t>
            </a:r>
            <a:br/>
            <a:r>
              <a:t>  (p:Paper)-[:HAS_TOPIC]-&gt;</a:t>
            </a:r>
            <a:br/>
            <a:r>
              <a:t>  (t:Topic)</a:t>
            </a:r>
            <a:br/>
            <a:r>
              <a:t>RETURN path</a:t>
            </a:r>
            <a:br/>
            <a:r>
              <a:t>LIMIT 10;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703320"/>
            <a:ext cx="2834640" cy="868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The query returns paths, so Neo4j shows both nodes and relationships.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Neo4j Evidence: Citation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Paper-to-paper CITES relationships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5067"/>
            <a:ext cx="7644384" cy="4059344"/>
          </a:xfrm>
          <a:prstGeom prst="rect">
            <a:avLst/>
          </a:prstGeom>
          <a:solidFill>
            <a:srgbClr val="FFFFFF"/>
          </a:solidFill>
          <a:ln w="1587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tation 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32499"/>
            <a:ext cx="7589520" cy="4004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58200" y="1554480"/>
            <a:ext cx="269748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1100">
                <a:solidFill>
                  <a:srgbClr val="0F0F0F"/>
                </a:solidFill>
                <a:latin typeface="Consolas"/>
              </a:defRPr>
            </a:pPr>
            <a:r>
              <a:t>MATCH path =</a:t>
            </a:r>
            <a:br/>
            <a:r>
              <a:t>  (p:Paper)-[:CITES]-&gt;</a:t>
            </a:r>
            <a:br/>
            <a:r>
              <a:t>  (cited:Paper)</a:t>
            </a:r>
            <a:br/>
            <a:r>
              <a:t>RETURN path</a:t>
            </a:r>
            <a:br/>
            <a: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383280"/>
            <a:ext cx="2743200" cy="9601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1A202C"/>
                </a:solidFill>
                <a:latin typeface="Arial"/>
              </a:rPr>
              <a:t>This is the graph-style view that is hard to understand from raw citation table rows alone.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Equivalent Query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Same analytical question, SQL vs Cypher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969264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Question: which authors cite other authors through their papers?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53035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800">
                <a:solidFill>
                  <a:srgbClr val="0F0F0F"/>
                </a:solidFill>
                <a:latin typeface="Consolas"/>
              </a:defRPr>
            </a:pPr>
            <a:r>
              <a:t>SELECT source_author.display_name AS citing_author,</a:t>
            </a:r>
            <a:br/>
            <a:r>
              <a:t>       target_author.display_name AS cited_author,</a:t>
            </a:r>
            <a:br/>
            <a:r>
              <a:t>       COUNT(*) AS citation_edges</a:t>
            </a:r>
            <a:br/>
            <a:r>
              <a:t>FROM paper_authors source_pa</a:t>
            </a:r>
            <a:br/>
            <a:r>
              <a:t>JOIN citations c ON c.citing_paper_id = source_pa.paper_id</a:t>
            </a:r>
            <a:br/>
            <a:r>
              <a:t>JOIN paper_authors target_pa ON target_pa.paper_id = c.cited_paper_id</a:t>
            </a:r>
            <a:br/>
            <a:r>
              <a:t>GROUP BY source_author.display_name, target_author.display_name;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36576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Cypher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074920" cy="3154680"/>
          </a:xfrm>
          <a:prstGeom prst="rect">
            <a:avLst/>
          </a:prstGeom>
          <a:solidFill>
            <a:srgbClr val="F7F7F7"/>
          </a:solidFill>
          <a:ln w="15875"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defRPr sz="900">
                <a:solidFill>
                  <a:srgbClr val="0F0F0F"/>
                </a:solidFill>
                <a:latin typeface="Consolas"/>
              </a:defRPr>
            </a:pPr>
            <a:r>
              <a:t>MATCH (source:Author)-[:AUTHORED]-&gt;(:Paper)</a:t>
            </a:r>
            <a:br/>
            <a:r>
              <a:t>      -[:CITES]-&gt;(:Paper)&lt;-[:AUTHORED]-(target:Author)</a:t>
            </a:r>
            <a:br/>
            <a:r>
              <a:t>WHERE source.author_id &lt;&gt; target.author_id</a:t>
            </a:r>
            <a:br/>
            <a:r>
              <a:t>RETURN source.display_name AS citing_author,</a:t>
            </a:r>
            <a:br/>
            <a:r>
              <a:t>       target.display_name AS cited_author,</a:t>
            </a:r>
            <a:br/>
            <a:r>
              <a:t>       count(*) AS citation_edges;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the comparison was measured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63040"/>
            <a:ext cx="4892040" cy="402336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320040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Measurement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114800" cy="2560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- 11 equivalent query pairs</a:t>
            </a:r>
            <a:br/>
            <a:r>
              <a:rPr sz="1800">
                <a:solidFill>
                  <a:srgbClr val="1A202C"/>
                </a:solidFill>
              </a:rPr>
              <a:t>- 1 warmup run</a:t>
            </a:r>
            <a:br/>
            <a:r>
              <a:rPr sz="1800">
                <a:solidFill>
                  <a:srgbClr val="1A202C"/>
                </a:solidFill>
              </a:rPr>
              <a:t>- 5 measured runs</a:t>
            </a:r>
            <a:br/>
            <a:r>
              <a:rPr sz="1800">
                <a:solidFill>
                  <a:srgbClr val="1A202C"/>
                </a:solidFill>
              </a:rPr>
              <a:t>- Same generated CSV dataset</a:t>
            </a:r>
            <a:br/>
            <a:r>
              <a:rPr sz="1800">
                <a:solidFill>
                  <a:srgbClr val="1A202C"/>
                </a:solidFill>
              </a:rPr>
              <a:t>- PostgreSQL measured with EXPLAIN ANALYZE</a:t>
            </a:r>
            <a:br/>
            <a:r>
              <a:rPr sz="1800">
                <a:solidFill>
                  <a:srgbClr val="1A202C"/>
                </a:solidFill>
              </a:rPr>
              <a:t>- Neo4j measured with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4892040" cy="402336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33832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Important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12848"/>
            <a:ext cx="40690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1">
                <a:solidFill>
                  <a:srgbClr val="1A202C"/>
                </a:solidFill>
                <a:latin typeface="Arial"/>
              </a:rPr>
              <a:t>This is not a universal ranking of PostgreSQL and Neo4j.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971800"/>
            <a:ext cx="4069080" cy="7772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0">
                <a:solidFill>
                  <a:srgbClr val="1A202C"/>
                </a:solidFill>
                <a:latin typeface="Arial"/>
              </a:rPr>
              <a:t>It is a local comparison on the same OpenAlex AI subset, hardware, indexes, and query workload.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02336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1A202C"/>
                </a:solidFill>
                <a:latin typeface="Arial"/>
              </a:rPr>
              <a:t>The main goal is to connect query shape to database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Average execution time across equivalent query pairs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benchmark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59" y="1005840"/>
            <a:ext cx="9103360" cy="5120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The better database depends on the query type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PostgreSQL performed best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Sorting and aggregation</a:t>
            </a:r>
            <a:br/>
            <a:r>
              <a:rPr sz="1600">
                <a:solidFill>
                  <a:srgbClr val="1A202C"/>
                </a:solidFill>
              </a:rPr>
              <a:t>- Traditional joins</a:t>
            </a:r>
            <a:br/>
            <a:r>
              <a:rPr sz="1600">
                <a:solidFill>
                  <a:srgbClr val="1A202C"/>
                </a:solidFill>
              </a:rPr>
              <a:t>- Most cited papers</a:t>
            </a:r>
            <a:br/>
            <a:r>
              <a:rPr sz="1600">
                <a:solidFill>
                  <a:srgbClr val="1A202C"/>
                </a:solidFill>
              </a:rPr>
              <a:t>- Top authors/topics</a:t>
            </a:r>
            <a:br/>
            <a:r>
              <a:rPr sz="1600">
                <a:solidFill>
                  <a:srgbClr val="1A202C"/>
                </a:solidFill>
              </a:rPr>
              <a:t>- Small structured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Neo4j performed best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200"/>
              </a:spcAft>
              <a:defRPr sz="1600"/>
            </a:pPr>
            <a:r>
              <a:rPr sz="1400">
                <a:solidFill>
                  <a:srgbClr val="1F2430"/>
                </a:solidFill>
                <a:latin typeface="Aptos"/>
              </a:rPr>
              <a:t>- Author citation network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1F2430"/>
                </a:solidFill>
                <a:latin typeface="Aptos"/>
              </a:rPr>
              <a:t>- Two supplemental graph-heavy wins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1F2430"/>
                </a:solidFill>
                <a:latin typeface="Aptos"/>
              </a:rPr>
              <a:t>- Multi-hop traversal + topic overlap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1F2430"/>
                </a:solidFill>
                <a:latin typeface="Aptos"/>
              </a:rPr>
              <a:t>- Path-style graph questions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1F2430"/>
                </a:solidFill>
                <a:latin typeface="Aptos"/>
              </a:rPr>
              <a:t>- Visual exploration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508760"/>
            <a:ext cx="342900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783080"/>
            <a:ext cx="292608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52121E"/>
                </a:solidFill>
                <a:latin typeface="Arial"/>
              </a:rPr>
              <a:t>Main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514600"/>
            <a:ext cx="2971800" cy="2468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600"/>
            </a:pPr>
            <a:r>
              <a:rPr sz="1600" b="0">
                <a:solidFill>
                  <a:srgbClr val="1A202C"/>
                </a:solidFill>
                <a:latin typeface="Arial"/>
              </a:rPr>
              <a:t>- Relational models are efficient for structured analysis.</a:t>
            </a:r>
            <a:br/>
            <a:r>
              <a:rPr sz="1600">
                <a:solidFill>
                  <a:srgbClr val="1A202C"/>
                </a:solidFill>
              </a:rPr>
              <a:t>- Graph models are expressive for relationship-heavy questions.</a:t>
            </a:r>
            <a:br/>
            <a:r>
              <a:rPr sz="1600">
                <a:solidFill>
                  <a:srgbClr val="1A202C"/>
                </a:solidFill>
              </a:rPr>
              <a:t>- Use the model that matches the question.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What could be improved with more time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4937760" cy="434340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The dataset is a selected OpenAlex subset, not full OpenAlex</a:t>
            </a:r>
            <a:br/>
            <a:r>
              <a:rPr sz="1800">
                <a:solidFill>
                  <a:srgbClr val="1A202C"/>
                </a:solidFill>
              </a:rPr>
              <a:t>- Benchmark results depend on local hardware and cache state</a:t>
            </a:r>
            <a:br/>
            <a:r>
              <a:rPr sz="1800">
                <a:solidFill>
                  <a:srgbClr val="1A202C"/>
                </a:solidFill>
              </a:rPr>
              <a:t>- Neo4j overhead is visible on small datasets</a:t>
            </a:r>
            <a:br/>
            <a:r>
              <a:rPr sz="1800">
                <a:solidFill>
                  <a:srgbClr val="1A202C"/>
                </a:solidFill>
              </a:rPr>
              <a:t>- No advanced full-text/vector search layer was added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4937760" cy="434340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09928"/>
            <a:ext cx="27432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48840"/>
            <a:ext cx="4251960" cy="23774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800"/>
            </a:pPr>
            <a:r>
              <a:rPr sz="1800" b="0">
                <a:solidFill>
                  <a:srgbClr val="1A202C"/>
                </a:solidFill>
                <a:latin typeface="Arial"/>
              </a:rPr>
              <a:t>- Increase dataset size</a:t>
            </a:r>
            <a:br/>
            <a:r>
              <a:rPr sz="1800">
                <a:solidFill>
                  <a:srgbClr val="1A202C"/>
                </a:solidFill>
              </a:rPr>
              <a:t>- Add full-text search and vector retrieval</a:t>
            </a:r>
            <a:br/>
            <a:r>
              <a:rPr sz="1800">
                <a:solidFill>
                  <a:srgbClr val="1A202C"/>
                </a:solidFill>
              </a:rPr>
              <a:t>- Tune indexes and constraints further</a:t>
            </a:r>
            <a:br/>
            <a:r>
              <a:rPr sz="1800">
                <a:solidFill>
                  <a:srgbClr val="1A202C"/>
                </a:solidFill>
              </a:rPr>
              <a:t>- Build a simple RAG search demo on top of the databases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52121E"/>
                </a:solidFill>
                <a:latin typeface="Arial"/>
              </a:rPr>
              <a:t>Final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24128"/>
            <a:ext cx="80467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From requirements to results</a:t>
            </a:r>
          </a:p>
        </p:txBody>
      </p:sp>
      <p:pic>
        <p:nvPicPr>
          <p:cNvPr id="5" name="Picture 4" descr="sapienza_seal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84280" y="6473952"/>
            <a:ext cx="320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9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325880"/>
            <a:ext cx="5166360" cy="4526280"/>
          </a:xfrm>
          <a:prstGeom prst="roundRect">
            <a:avLst/>
          </a:prstGeom>
          <a:solidFill>
            <a:srgbClr val="FBFBFB"/>
          </a:solidFill>
          <a:ln w="15875"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27632"/>
            <a:ext cx="32918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What we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4297680" cy="2743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600"/>
              </a:spcAft>
              <a:defRPr sz="1700"/>
            </a:pPr>
            <a:r>
              <a:rPr sz="1700" b="0">
                <a:solidFill>
                  <a:srgbClr val="1A202C"/>
                </a:solidFill>
                <a:latin typeface="Arial"/>
              </a:rPr>
              <a:t>- OpenAlex ETL pipeline</a:t>
            </a:r>
            <a:br/>
            <a:r>
              <a:rPr sz="1700">
                <a:solidFill>
                  <a:srgbClr val="1A202C"/>
                </a:solidFill>
              </a:rPr>
              <a:t>- PostgreSQL and Neo4j data models</a:t>
            </a:r>
            <a:br/>
            <a:r>
              <a:rPr sz="1700">
                <a:solidFill>
                  <a:srgbClr val="1A202C"/>
                </a:solidFill>
              </a:rPr>
              <a:t>- Docker-based reproducible setup</a:t>
            </a:r>
            <a:br/>
            <a:r>
              <a:rPr sz="1700">
                <a:solidFill>
                  <a:srgbClr val="1A202C"/>
                </a:solidFill>
              </a:rPr>
              <a:t>- Equivalent SQL and Cypher query set</a:t>
            </a:r>
            <a:br/>
            <a:r>
              <a:rPr sz="1700">
                <a:solidFill>
                  <a:srgbClr val="1A202C"/>
                </a:solidFill>
              </a:rPr>
              <a:t>- Benchmark results and interpretation</a:t>
            </a:r>
            <a:br/>
            <a:r>
              <a:rPr sz="1700">
                <a:solidFill>
                  <a:srgbClr val="1A202C"/>
                </a:solidFill>
              </a:rPr>
              <a:t>- Project report and README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25880"/>
            <a:ext cx="4617720" cy="4526280"/>
          </a:xfrm>
          <a:prstGeom prst="roundRect">
            <a:avLst/>
          </a:prstGeom>
          <a:solidFill>
            <a:srgbClr val="FFFDFD"/>
          </a:solidFill>
          <a:ln w="15875">
            <a:solidFill>
              <a:srgbClr val="EAD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627632"/>
            <a:ext cx="301752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Final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148840"/>
            <a:ext cx="3840480" cy="20116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1F2430"/>
                </a:solidFill>
                <a:latin typeface="Aptos"/>
              </a:rPr>
              <a:t>PostgreSQL is the better fit for structured tabular analysis in the main workload. Neo4j becomes stronger when relationship traversal is central, especially citation networks and shared-topic citation paths.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709160"/>
            <a:ext cx="3749039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66373"/>
                </a:solidFill>
                <a:latin typeface="Aptos"/>
              </a:rPr>
              <a:t>The choice depends on the data access pattern, not on one database being universally better.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382512"/>
            <a:ext cx="11155680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Graph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How the lecture concepts appear in our implementation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210312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Lecture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2606040" cy="2560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Relationships can be represented as explicit graph edges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Graph data is useful when paths and networks matter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Traversal follows connected nodes and relationships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664208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Our Neo4j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084831"/>
            <a:ext cx="2606040" cy="2560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Nodes: Paper, Author, Topic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Edges: AUTHORED, HAS_TOPIC, CITES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Citation and authorship paths are visible in Neo4j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291840" cy="434340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664208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52121E"/>
                </a:solidFill>
                <a:latin typeface="Arial"/>
              </a:rPr>
              <a:t>Project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194560"/>
            <a:ext cx="2606040" cy="1234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Arial"/>
              </a:rPr>
              <a:t>(Author)-[:AUTHORED]-&gt;(Paper)</a:t>
            </a:r>
            <a:br/>
            <a:r>
              <a:rPr sz="1500" b="1">
                <a:solidFill>
                  <a:srgbClr val="1A202C"/>
                </a:solidFill>
                <a:latin typeface="Arial"/>
              </a:rPr>
              <a:t>(Paper)-[:CITES]-&gt;(Paper)</a:t>
            </a:r>
            <a:br/>
            <a:r>
              <a:rPr sz="1500" b="1">
                <a:solidFill>
                  <a:srgbClr val="1A202C"/>
                </a:solidFill>
                <a:latin typeface="Arial"/>
              </a:rPr>
              <a:t>(Paper)-[:HAS_TOPIC]-&gt;(Topic)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69080"/>
            <a:ext cx="2606040" cy="640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0">
                <a:solidFill>
                  <a:srgbClr val="1A202C"/>
                </a:solidFill>
                <a:latin typeface="Arial"/>
              </a:rPr>
              <a:t>This directly applies the property graph model explained in class.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Joins vs Traversal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Same relationship question, two database perspectives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512064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3840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PostgreSQL: relationships through joins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4343400" cy="22860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202C"/>
                </a:solidFill>
                <a:latin typeface="Arial"/>
              </a:rPr>
              <a:t>- Relationships are stored in tables and bridge tables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Author citation network requires joins across paper_authors, citations, and authors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Good for structured aggregation, sorting, and filtering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92040"/>
            <a:ext cx="434340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Course link: relational query processing uses operators such as join, selection, grouping, and ordering.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12064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91640"/>
            <a:ext cx="3840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Neo4j: relationships as edges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148840"/>
            <a:ext cx="4343400" cy="22860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A202C"/>
                </a:solidFill>
                <a:latin typeface="Arial"/>
              </a:rPr>
              <a:t>- Relationships are stored directly as graph edges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Cypher expresses paths with MATCH patterns</a:t>
            </a:r>
            <a:br/>
            <a:r>
              <a:rPr sz="1700" b="0">
                <a:solidFill>
                  <a:srgbClr val="1A202C"/>
                </a:solidFill>
                <a:latin typeface="Arial"/>
              </a:rPr>
              <a:t>- Good for citation paths and author networks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92040"/>
            <a:ext cx="434340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  <a:latin typeface="Arial"/>
              </a:rPr>
              <a:t>Course link: graph databases query by traversing paths instead of reconstructing paths through joins.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96112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700" b="1">
                <a:solidFill>
                  <a:srgbClr val="52121E"/>
                </a:solidFill>
                <a:latin typeface="Arial"/>
              </a:rPr>
              <a:t>Course Connection: Scope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86868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C6876"/>
                </a:solidFill>
                <a:latin typeface="Arial"/>
              </a:rPr>
              <a:t>Why the project uses property graphs, not every course topic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566928"/>
            <a:ext cx="566928" cy="6792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4206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C6876"/>
                </a:solidFill>
                <a:latin typeface="Arial"/>
              </a:rPr>
              <a:t>OpenAlex AI DBMS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C6876"/>
                </a:solidFill>
                <a:latin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228600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RDF databases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RDF uses triples and semantic vocabularies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Useful for ontology-oriented data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We did not use RDF because the project compares PostgreSQL with Neo4j property graphs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691640"/>
            <a:ext cx="23774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Data warehousing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DW focuses on fact tables, dimensions, star schemas, and OLAP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Our approved topic is DBMS comparison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So we do not present this as a warehouse project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417320"/>
            <a:ext cx="3337560" cy="4434840"/>
          </a:xfrm>
          <a:prstGeom prst="roundRect">
            <a:avLst/>
          </a:prstGeom>
          <a:solidFill>
            <a:srgbClr val="FBFBFB"/>
          </a:solidFill>
          <a:ln w="1524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691640"/>
            <a:ext cx="237744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800" b="1">
                <a:solidFill>
                  <a:srgbClr val="52121E"/>
                </a:solidFill>
                <a:latin typeface="Arial"/>
              </a:rPr>
              <a:t>Query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48840"/>
            <a:ext cx="2651760" cy="25146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1A202C"/>
                </a:solidFill>
                <a:latin typeface="Arial"/>
              </a:rPr>
              <a:t>- Benchmarks connect to operator evaluation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PostgreSQL uses EXPLAIN ANALYZE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Neo4j uses PROFILE</a:t>
            </a:r>
            <a:br/>
            <a:r>
              <a:rPr sz="1600" b="0">
                <a:solidFill>
                  <a:srgbClr val="1A202C"/>
                </a:solidFill>
                <a:latin typeface="Arial"/>
              </a:rPr>
              <a:t>- Indexes and constraints influence access paths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82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438912"/>
            <a:ext cx="530352" cy="530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530352"/>
            <a:ext cx="8961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822332"/>
                </a:solidFill>
                <a:latin typeface="Aptos Display"/>
              </a:rPr>
              <a:t>Supplemental Benchmark: Graph-Focused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32688"/>
            <a:ext cx="8686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66373"/>
                </a:solidFill>
                <a:latin typeface="Aptos"/>
              </a:rPr>
              <a:t>Extra query pairs added to test whether Neo4j improves on more graph-shaped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288036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82496"/>
            <a:ext cx="2478024" cy="3657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22332"/>
                </a:solidFill>
                <a:latin typeface="Aptos"/>
              </a:rPr>
              <a:t>What changed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Original 11-query benchmark kept unchanged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Added 7 supplemental graph-focused query pairs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Workload includes neighborhoods, two-hop citation paths, and topic-overlap citation networks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1481328"/>
            <a:ext cx="30632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95928" y="1682496"/>
            <a:ext cx="2660904" cy="3657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22332"/>
                </a:solidFill>
                <a:latin typeface="Aptos"/>
              </a:rPr>
              <a:t>Measured result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PostgreSQL still wins small anchored lookups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Neo4j wins two-hop author citation network: 39.2 ms vs 43.0 ms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Neo4j wins author citation + shared topic: 338.0 ms vs 783.0 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14032" y="1481328"/>
            <a:ext cx="333756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D2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682496"/>
            <a:ext cx="2935224" cy="3657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22332"/>
                </a:solidFill>
                <a:latin typeface="Aptos"/>
              </a:rPr>
              <a:t>Interpretation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Neo4j is not automatically faster for every graph-looking query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Advantage appears when traversal combines several relationship types</a:t>
            </a:r>
          </a:p>
          <a:p>
            <a:pPr>
              <a:spcBef>
                <a:spcPts val="500"/>
              </a:spcBef>
            </a:pPr>
            <a:r>
              <a:rPr sz="1100">
                <a:solidFill>
                  <a:srgbClr val="1F2430"/>
                </a:solidFill>
                <a:latin typeface="Aptos"/>
              </a:rPr>
              <a:t>- This supports the balanced model-choice conclusion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309360"/>
            <a:ext cx="10058400" cy="127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>
                <a:solidFill>
                  <a:srgbClr val="566373"/>
                </a:solidFill>
                <a:latin typeface="Aptos"/>
              </a:rPr>
              <a:t>OpenAlex AI DBMS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6400800"/>
            <a:ext cx="228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66373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