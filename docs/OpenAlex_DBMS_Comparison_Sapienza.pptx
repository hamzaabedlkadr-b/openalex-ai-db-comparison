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pienza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02920"/>
            <a:ext cx="4480560" cy="13459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2057400"/>
            <a:ext cx="996696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3400" b="1">
                <a:solidFill>
                  <a:srgbClr val="52121E"/>
                </a:solidFill>
                <a:latin typeface="Arial"/>
              </a:rPr>
              <a:t>Comparison between PostgreSQL and Neo4j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51760"/>
            <a:ext cx="98755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0">
                <a:solidFill>
                  <a:srgbClr val="1A202C"/>
                </a:solidFill>
                <a:latin typeface="Arial"/>
              </a:rPr>
              <a:t>OpenAlex AI research paper retrieval and knowledge graph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337560"/>
            <a:ext cx="4572000" cy="1143000"/>
          </a:xfrm>
          <a:prstGeom prst="roundRect">
            <a:avLst/>
          </a:prstGeom>
          <a:solidFill>
            <a:srgbClr val="FAF7F7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5387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Group 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58768"/>
            <a:ext cx="3840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1A202C"/>
                </a:solidFill>
                <a:latin typeface="Arial"/>
              </a:rPr>
              <a:t>Hamza Abdul Kader - 2230150</a:t>
            </a:r>
            <a:br/>
            <a:r>
              <a:t>Leonardo Marasca - 2217140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80760"/>
            <a:ext cx="42062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C6876"/>
                </a:solidFill>
                <a:latin typeface="Arial"/>
              </a:rPr>
              <a:t>Data Management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608076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400" b="0">
                <a:solidFill>
                  <a:srgbClr val="5C6876"/>
                </a:solidFill>
                <a:latin typeface="Arial"/>
              </a:rPr>
              <a:t>Sapienza Universita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Project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What we compare and why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29260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Main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1952"/>
            <a:ext cx="4754880" cy="9144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500" b="1">
                <a:solidFill>
                  <a:srgbClr val="1A202C"/>
                </a:solidFill>
                <a:latin typeface="Arial"/>
              </a:rPr>
              <a:t>Which database model is more suitable for AI research paper data: a relational DBMS or a graph database?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1508760"/>
            <a:ext cx="5303520" cy="4251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1783080"/>
            <a:ext cx="41148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Comparison dimensions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267712"/>
            <a:ext cx="4526280" cy="21031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2000"/>
            </a:pPr>
            <a:r>
              <a:rPr sz="2000" b="0">
                <a:solidFill>
                  <a:srgbClr val="1A202C"/>
                </a:solidFill>
                <a:latin typeface="Arial"/>
              </a:rPr>
              <a:t>- Data modeling</a:t>
            </a:r>
            <a:br/>
            <a:r>
              <a:rPr sz="2000">
                <a:solidFill>
                  <a:srgbClr val="1A202C"/>
                </a:solidFill>
              </a:rPr>
              <a:t>- Query expressiveness</a:t>
            </a:r>
            <a:br/>
            <a:r>
              <a:rPr sz="2000">
                <a:solidFill>
                  <a:srgbClr val="1A202C"/>
                </a:solidFill>
              </a:rPr>
              <a:t>- Query complexity</a:t>
            </a:r>
            <a:br/>
            <a:r>
              <a:rPr sz="2000">
                <a:solidFill>
                  <a:srgbClr val="1A202C"/>
                </a:solidFill>
              </a:rPr>
              <a:t>- Execution time</a:t>
            </a:r>
            <a:br/>
            <a:r>
              <a:rPr sz="2000">
                <a:solidFill>
                  <a:srgbClr val="1A202C"/>
                </a:solidFill>
              </a:rPr>
              <a:t>- Fit for relationship-heavy analysis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Dataset Source: OpenAlex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Open catalog of scholarly works, authors, topics, and citations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214778"/>
            <a:ext cx="5358383" cy="2565602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openalex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242210"/>
            <a:ext cx="5303520" cy="251073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36207" y="1717327"/>
            <a:ext cx="5358384" cy="356050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_openalex_data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744759"/>
            <a:ext cx="5303520" cy="3505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15000"/>
            <a:ext cx="1051560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800" b="1">
                <a:solidFill>
                  <a:srgbClr val="1A202C"/>
                </a:solidFill>
                <a:latin typeface="Arial"/>
              </a:rPr>
              <a:t>Used through the OpenAlex API; subset focused on AI, ML, LLM, and RAG-related papers.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Pipeline Followed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From data source to benchmark conclusions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4</a:t>
            </a:r>
          </a:p>
        </p:txBody>
      </p:sp>
      <p:pic>
        <p:nvPicPr>
          <p:cNvPr id="7" name="Picture 6" descr="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643" y="1143000"/>
            <a:ext cx="9342233" cy="52578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ETL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How raw OpenAlex data became database-ready files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4846320" cy="443484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64208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Python 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4251960" cy="2743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700"/>
            </a:pPr>
            <a:r>
              <a:rPr sz="1700" b="0">
                <a:solidFill>
                  <a:srgbClr val="1A202C"/>
                </a:solidFill>
                <a:latin typeface="Arial"/>
              </a:rPr>
              <a:t>- Search OpenAlex works by AI/RAG terms</a:t>
            </a:r>
            <a:br/>
            <a:r>
              <a:rPr sz="1700">
                <a:solidFill>
                  <a:srgbClr val="1A202C"/>
                </a:solidFill>
              </a:rPr>
              <a:t>- Store raw API responses as JSONL</a:t>
            </a:r>
            <a:br/>
            <a:r>
              <a:rPr sz="1700">
                <a:solidFill>
                  <a:srgbClr val="1A202C"/>
                </a:solidFill>
              </a:rPr>
              <a:t>- Normalize nested JSON into CSV files</a:t>
            </a:r>
            <a:br/>
            <a:r>
              <a:rPr sz="1700">
                <a:solidFill>
                  <a:srgbClr val="1A202C"/>
                </a:solidFill>
              </a:rPr>
              <a:t>- Reconstruct abstracts from inverted indexes</a:t>
            </a:r>
            <a:br/>
            <a:r>
              <a:rPr sz="1700">
                <a:solidFill>
                  <a:srgbClr val="1A202C"/>
                </a:solidFill>
              </a:rPr>
              <a:t>- Load the same CSVs into both databases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1417320"/>
            <a:ext cx="5440680" cy="4434840"/>
          </a:xfrm>
          <a:prstGeom prst="roundRect">
            <a:avLst/>
          </a:prstGeom>
          <a:solidFill>
            <a:srgbClr val="FFFDFD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664208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Problems solved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2148840"/>
          <a:ext cx="4892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697480"/>
              </a:tblGrid>
              <a:tr h="6858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Problem</a:t>
                      </a:r>
                    </a:p>
                  </a:txBody>
                  <a:tcPr>
                    <a:solidFill>
                      <a:srgbClr val="8223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82233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Missing abstracts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Reconstruct from inverted index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Nested 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Normalize into CSV tables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External citations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Keep internal citation links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Normalized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Current OpenAlex sample used in both databases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299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166420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Papers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1732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53619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1,966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0448" y="166420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Authors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141732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59" y="153619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1,104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166420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Topics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65176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77063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2,077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1408" y="289864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Paper-author links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65176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277063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4,288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289864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Paper-topic links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59" y="265176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9" y="277063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289864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Citation links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8860" y="4041648"/>
            <a:ext cx="4203798" cy="165506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04_processed_csv_file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292" y="4069080"/>
            <a:ext cx="4148934" cy="16002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PostgreSQL Relational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Normalized tables and bridge tables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1425657"/>
            <a:ext cx="5815583" cy="423528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ostgreSQL 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53089"/>
            <a:ext cx="5760720" cy="41804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675120" y="1325880"/>
            <a:ext cx="4526280" cy="438912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1627632"/>
            <a:ext cx="228600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057400"/>
            <a:ext cx="3474720" cy="21945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900"/>
            </a:pPr>
            <a:r>
              <a:rPr sz="1900" b="0">
                <a:solidFill>
                  <a:srgbClr val="1A202C"/>
                </a:solidFill>
                <a:latin typeface="Arial"/>
              </a:rPr>
              <a:t>- papers</a:t>
            </a:r>
            <a:br/>
            <a:r>
              <a:rPr sz="1900">
                <a:solidFill>
                  <a:srgbClr val="1A202C"/>
                </a:solidFill>
              </a:rPr>
              <a:t>- authors</a:t>
            </a:r>
            <a:br/>
            <a:r>
              <a:rPr sz="1900">
                <a:solidFill>
                  <a:srgbClr val="1A202C"/>
                </a:solidFill>
              </a:rPr>
              <a:t>- topics</a:t>
            </a:r>
            <a:br/>
            <a:r>
              <a:rPr sz="1900">
                <a:solidFill>
                  <a:srgbClr val="1A202C"/>
                </a:solidFill>
              </a:rPr>
              <a:t>- paper_authors</a:t>
            </a:r>
            <a:br/>
            <a:r>
              <a:rPr sz="1900">
                <a:solidFill>
                  <a:srgbClr val="1A202C"/>
                </a:solidFill>
              </a:rPr>
              <a:t>- paper_topics</a:t>
            </a:r>
            <a:br/>
            <a:r>
              <a:rPr sz="1900">
                <a:solidFill>
                  <a:srgbClr val="1A202C"/>
                </a:solidFill>
              </a:rPr>
              <a:t>- citations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4800600"/>
            <a:ext cx="365760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1A202C"/>
                </a:solidFill>
                <a:latin typeface="Arial"/>
              </a:rPr>
              <a:t>Strength: structured joins and aggregations with SQL.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Neo4j Graph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Nodes and relationships are first-class objects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86451"/>
            <a:ext cx="6547103" cy="3450857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eoj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13883"/>
            <a:ext cx="6492240" cy="339599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06640" y="1417320"/>
            <a:ext cx="3749039" cy="434340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9248" y="1691640"/>
            <a:ext cx="24688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Graph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148840"/>
            <a:ext cx="3108960" cy="1600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500"/>
            </a:pPr>
            <a:r>
              <a:rPr sz="1500" b="0">
                <a:solidFill>
                  <a:srgbClr val="1A202C"/>
                </a:solidFill>
                <a:latin typeface="Arial"/>
              </a:rPr>
              <a:t>- (Author)-[:AUTHORED]-&gt;(Paper)</a:t>
            </a:r>
            <a:br/>
            <a:r>
              <a:rPr sz="1500">
                <a:solidFill>
                  <a:srgbClr val="1A202C"/>
                </a:solidFill>
              </a:rPr>
              <a:t>- (Paper)-[:HAS_TOPIC]-&gt;(Topic)</a:t>
            </a:r>
            <a:br/>
            <a:r>
              <a:rPr sz="1500">
                <a:solidFill>
                  <a:srgbClr val="1A202C"/>
                </a:solidFill>
              </a:rPr>
              <a:t>- (Paper)-[:CITES]-&gt;(Paper)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9248" y="4526280"/>
            <a:ext cx="306324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1A202C"/>
                </a:solidFill>
                <a:latin typeface="Arial"/>
              </a:rPr>
              <a:t>Strength: relationship-heavy traversal and visual graph exploration.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Implementation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Local reproducible environment with Docker Compose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367" y="1389888"/>
            <a:ext cx="10838225" cy="179222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cker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799" y="1417320"/>
            <a:ext cx="10783361" cy="1737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60120" y="3703320"/>
            <a:ext cx="2926080" cy="100584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3886200"/>
            <a:ext cx="21031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PostgreSQL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51960"/>
            <a:ext cx="210312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Relational DBMS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3703320"/>
            <a:ext cx="2926080" cy="100584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3886200"/>
            <a:ext cx="21031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Neo4j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4251960"/>
            <a:ext cx="210312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Graph database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3703320"/>
            <a:ext cx="2926080" cy="100584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3886200"/>
            <a:ext cx="21031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Adminer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4251960"/>
            <a:ext cx="210312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PostgreSQL UI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PostgreSQL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Tables and SQL query result in Adminer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66811"/>
            <a:ext cx="6775703" cy="3653561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QL Query 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94243"/>
            <a:ext cx="6720840" cy="359869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35240" y="1508760"/>
            <a:ext cx="3474720" cy="1508760"/>
          </a:xfrm>
          <a:prstGeom prst="rect">
            <a:avLst/>
          </a:prstGeom>
          <a:solidFill>
            <a:srgbClr val="F7F7F7"/>
          </a:solidFill>
          <a:ln w="15875"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defRPr sz="1200">
                <a:solidFill>
                  <a:srgbClr val="0F0F0F"/>
                </a:solidFill>
                <a:latin typeface="Consolas"/>
              </a:defRPr>
            </a:pPr>
            <a:r>
              <a:t>SELECT title, publication_year, cited_by_count</a:t>
            </a:r>
            <a:br/>
            <a:r>
              <a:t>FROM papers</a:t>
            </a:r>
            <a:br/>
            <a:r>
              <a:t>ORDER BY cited_by_count DESC</a:t>
            </a:r>
            <a:br/>
            <a:r>
              <a:t>LIMIT 10;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337560"/>
            <a:ext cx="3520440" cy="7772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1A202C"/>
                </a:solidFill>
                <a:latin typeface="Arial"/>
              </a:rPr>
              <a:t>This query uses the relational table of papers and orders by citation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3786" y="4407407"/>
            <a:ext cx="2791907" cy="128930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stgreSQL 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218" y="4434840"/>
            <a:ext cx="2737043" cy="1234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Neo4j Evidence: Author-Paper-Topic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Graph query with visible relationships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6669"/>
            <a:ext cx="7370064" cy="3630420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eoj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24101"/>
            <a:ext cx="7315200" cy="35755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1508760"/>
            <a:ext cx="2834640" cy="1874519"/>
          </a:xfrm>
          <a:prstGeom prst="rect">
            <a:avLst/>
          </a:prstGeom>
          <a:solidFill>
            <a:srgbClr val="F7F7F7"/>
          </a:solidFill>
          <a:ln w="15875"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defRPr sz="1100">
                <a:solidFill>
                  <a:srgbClr val="0F0F0F"/>
                </a:solidFill>
                <a:latin typeface="Consolas"/>
              </a:defRPr>
            </a:pPr>
            <a:r>
              <a:t>MATCH path =</a:t>
            </a:r>
            <a:br/>
            <a:r>
              <a:t>  (a:Author)-[:AUTHORED]-&gt;</a:t>
            </a:r>
            <a:br/>
            <a:r>
              <a:t>  (p:Paper)-[:HAS_TOPIC]-&gt;</a:t>
            </a:r>
            <a:br/>
            <a:r>
              <a:t>  (t:Topic)</a:t>
            </a:r>
            <a:br/>
            <a:r>
              <a:t>RETURN path</a:t>
            </a:r>
            <a:br/>
            <a:r>
              <a:t>LIMIT 10;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703320"/>
            <a:ext cx="2834640" cy="8686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1A202C"/>
                </a:solidFill>
                <a:latin typeface="Arial"/>
              </a:rPr>
              <a:t>The query returns paths, so Neo4j shows both nodes and relationships.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Neo4j Evidence: Citation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Paper-to-paper CITES relationships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5067"/>
            <a:ext cx="7644384" cy="405934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itation 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32499"/>
            <a:ext cx="7589520" cy="40044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58200" y="1554480"/>
            <a:ext cx="2697480" cy="1463040"/>
          </a:xfrm>
          <a:prstGeom prst="rect">
            <a:avLst/>
          </a:prstGeom>
          <a:solidFill>
            <a:srgbClr val="F7F7F7"/>
          </a:solidFill>
          <a:ln w="15875"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defRPr sz="1100">
                <a:solidFill>
                  <a:srgbClr val="0F0F0F"/>
                </a:solidFill>
                <a:latin typeface="Consolas"/>
              </a:defRPr>
            </a:pPr>
            <a:r>
              <a:t>MATCH path =</a:t>
            </a:r>
            <a:br/>
            <a:r>
              <a:t>  (p:Paper)-[:CITES]-&gt;</a:t>
            </a:r>
            <a:br/>
            <a:r>
              <a:t>  (cited:Paper)</a:t>
            </a:r>
            <a:br/>
            <a:r>
              <a:t>RETURN path</a:t>
            </a:r>
            <a:br/>
            <a:r>
              <a:t>LIMIT 20;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383280"/>
            <a:ext cx="2743200" cy="9601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1A202C"/>
                </a:solidFill>
                <a:latin typeface="Arial"/>
              </a:rPr>
              <a:t>This is the graph-style view that is hard to understand from raw citation table rows alone.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Equivalent Query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Same analytical question, SQL vs Cypher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969264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100" b="1">
                <a:solidFill>
                  <a:srgbClr val="1A202C"/>
                </a:solidFill>
                <a:latin typeface="Arial"/>
              </a:rPr>
              <a:t>Question: which authors cite other authors through their papers?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6576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PostgreSQL SQL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40280"/>
            <a:ext cx="5303520" cy="3154680"/>
          </a:xfrm>
          <a:prstGeom prst="rect">
            <a:avLst/>
          </a:prstGeom>
          <a:solidFill>
            <a:srgbClr val="F7F7F7"/>
          </a:solidFill>
          <a:ln w="15875"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defRPr sz="800">
                <a:solidFill>
                  <a:srgbClr val="0F0F0F"/>
                </a:solidFill>
                <a:latin typeface="Consolas"/>
              </a:defRPr>
            </a:pPr>
            <a:r>
              <a:t>SELECT source_author.display_name AS citing_author,</a:t>
            </a:r>
            <a:br/>
            <a:r>
              <a:t>       target_author.display_name AS cited_author,</a:t>
            </a:r>
            <a:br/>
            <a:r>
              <a:t>       COUNT(*) AS citation_edges</a:t>
            </a:r>
            <a:br/>
            <a:r>
              <a:t>FROM paper_authors source_pa</a:t>
            </a:r>
            <a:br/>
            <a:r>
              <a:t>JOIN citations c ON c.citing_paper_id = source_pa.paper_id</a:t>
            </a:r>
            <a:br/>
            <a:r>
              <a:t>JOIN paper_authors target_pa ON target_pa.paper_id = c.cited_paper_id</a:t>
            </a:r>
            <a:br/>
            <a:r>
              <a:t>GROUP BY source_author.display_name, target_author.display_name;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920240"/>
            <a:ext cx="36576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Neo4j Cypher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240280"/>
            <a:ext cx="5074920" cy="3154680"/>
          </a:xfrm>
          <a:prstGeom prst="rect">
            <a:avLst/>
          </a:prstGeom>
          <a:solidFill>
            <a:srgbClr val="F7F7F7"/>
          </a:solidFill>
          <a:ln w="15875"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defRPr sz="900">
                <a:solidFill>
                  <a:srgbClr val="0F0F0F"/>
                </a:solidFill>
                <a:latin typeface="Consolas"/>
              </a:defRPr>
            </a:pPr>
            <a:r>
              <a:t>MATCH (source:Author)-[:AUTHORED]-&gt;(:Paper)</a:t>
            </a:r>
            <a:br/>
            <a:r>
              <a:t>      -[:CITES]-&gt;(:Paper)&lt;-[:AUTHORED]-(target:Author)</a:t>
            </a:r>
            <a:br/>
            <a:r>
              <a:t>WHERE source.author_id &lt;&gt; target.author_id</a:t>
            </a:r>
            <a:br/>
            <a:r>
              <a:t>RETURN source.display_name AS citing_author,</a:t>
            </a:r>
            <a:br/>
            <a:r>
              <a:t>       target.display_name AS cited_author,</a:t>
            </a:r>
            <a:br/>
            <a:r>
              <a:t>       count(*) AS citation_edges;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Benchmark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How the comparison was measured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463040"/>
            <a:ext cx="4892040" cy="40233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320040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Measurement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76272"/>
            <a:ext cx="4114800" cy="2560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800"/>
            </a:pPr>
            <a:r>
              <a:rPr sz="1800" b="0">
                <a:solidFill>
                  <a:srgbClr val="1A202C"/>
                </a:solidFill>
                <a:latin typeface="Arial"/>
              </a:rPr>
              <a:t>- 11 equivalent query pairs</a:t>
            </a:r>
            <a:br/>
            <a:r>
              <a:rPr sz="1800">
                <a:solidFill>
                  <a:srgbClr val="1A202C"/>
                </a:solidFill>
              </a:rPr>
              <a:t>- 1 warmup run</a:t>
            </a:r>
            <a:br/>
            <a:r>
              <a:rPr sz="1800">
                <a:solidFill>
                  <a:srgbClr val="1A202C"/>
                </a:solidFill>
              </a:rPr>
              <a:t>- 5 measured runs</a:t>
            </a:r>
            <a:br/>
            <a:r>
              <a:rPr sz="1800">
                <a:solidFill>
                  <a:srgbClr val="1A202C"/>
                </a:solidFill>
              </a:rPr>
              <a:t>- Same generated CSV dataset</a:t>
            </a:r>
            <a:br/>
            <a:r>
              <a:rPr sz="1800">
                <a:solidFill>
                  <a:srgbClr val="1A202C"/>
                </a:solidFill>
              </a:rPr>
              <a:t>- PostgreSQL measured with EXPLAIN ANALYZE</a:t>
            </a:r>
            <a:br/>
            <a:r>
              <a:rPr sz="1800">
                <a:solidFill>
                  <a:srgbClr val="1A202C"/>
                </a:solidFill>
              </a:rPr>
              <a:t>- Neo4j measured with PROFILE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63040"/>
            <a:ext cx="4892040" cy="4023360"/>
          </a:xfrm>
          <a:prstGeom prst="roundRect">
            <a:avLst/>
          </a:prstGeom>
          <a:solidFill>
            <a:srgbClr val="FFFDFD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33832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Important interpretation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12848"/>
            <a:ext cx="40690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100" b="1">
                <a:solidFill>
                  <a:srgbClr val="1A202C"/>
                </a:solidFill>
                <a:latin typeface="Arial"/>
              </a:rPr>
              <a:t>This is not a universal ranking of PostgreSQL and Neo4j.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971800"/>
            <a:ext cx="4069080" cy="7772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700" b="0">
                <a:solidFill>
                  <a:srgbClr val="1A202C"/>
                </a:solidFill>
                <a:latin typeface="Arial"/>
              </a:rPr>
              <a:t>It is a local comparison on the same OpenAlex AI subset, hardware, indexes, and query workload.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160520"/>
            <a:ext cx="402336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1A202C"/>
                </a:solidFill>
                <a:latin typeface="Arial"/>
              </a:rPr>
              <a:t>The main goal is to connect query shape to database model.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Benchmark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Average execution time across equivalent query pairs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15</a:t>
            </a:r>
          </a:p>
        </p:txBody>
      </p:sp>
      <p:pic>
        <p:nvPicPr>
          <p:cNvPr id="7" name="Picture 6" descr="benchmark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359" y="1005840"/>
            <a:ext cx="9103360" cy="5120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The better database depends on the query type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3429000" cy="434340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92608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PostgreSQL performed best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2971800" cy="2468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600"/>
            </a:pPr>
            <a:r>
              <a:rPr sz="1600" b="0">
                <a:solidFill>
                  <a:srgbClr val="1A202C"/>
                </a:solidFill>
                <a:latin typeface="Arial"/>
              </a:rPr>
              <a:t>- Sorting and aggregation</a:t>
            </a:r>
            <a:br/>
            <a:r>
              <a:rPr sz="1600">
                <a:solidFill>
                  <a:srgbClr val="1A202C"/>
                </a:solidFill>
              </a:rPr>
              <a:t>- Traditional joins</a:t>
            </a:r>
            <a:br/>
            <a:r>
              <a:rPr sz="1600">
                <a:solidFill>
                  <a:srgbClr val="1A202C"/>
                </a:solidFill>
              </a:rPr>
              <a:t>- Most cited papers</a:t>
            </a:r>
            <a:br/>
            <a:r>
              <a:rPr sz="1600">
                <a:solidFill>
                  <a:srgbClr val="1A202C"/>
                </a:solidFill>
              </a:rPr>
              <a:t>- Top authors/topics</a:t>
            </a:r>
            <a:br/>
            <a:r>
              <a:rPr sz="1600">
                <a:solidFill>
                  <a:srgbClr val="1A202C"/>
                </a:solidFill>
              </a:rPr>
              <a:t>- Small structured dataset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508760"/>
            <a:ext cx="3429000" cy="434340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783080"/>
            <a:ext cx="292608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Neo4j performed best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514600"/>
            <a:ext cx="2971800" cy="2468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600"/>
            </a:pPr>
            <a:r>
              <a:rPr sz="1600" b="0">
                <a:solidFill>
                  <a:srgbClr val="1A202C"/>
                </a:solidFill>
                <a:latin typeface="Arial"/>
              </a:rPr>
              <a:t>- Author citation network</a:t>
            </a:r>
            <a:br/>
            <a:r>
              <a:rPr sz="1600">
                <a:solidFill>
                  <a:srgbClr val="1A202C"/>
                </a:solidFill>
              </a:rPr>
              <a:t>- Relationship traversal</a:t>
            </a:r>
            <a:br/>
            <a:r>
              <a:rPr sz="1600">
                <a:solidFill>
                  <a:srgbClr val="1A202C"/>
                </a:solidFill>
              </a:rPr>
              <a:t>- Path-style graph questions</a:t>
            </a:r>
            <a:br/>
            <a:r>
              <a:rPr sz="1600">
                <a:solidFill>
                  <a:srgbClr val="1A202C"/>
                </a:solidFill>
              </a:rPr>
              <a:t>- Visual exploration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508760"/>
            <a:ext cx="3429000" cy="434340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1783080"/>
            <a:ext cx="292608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Main lesson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514600"/>
            <a:ext cx="2971800" cy="2468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600"/>
            </a:pPr>
            <a:r>
              <a:rPr sz="1600" b="0">
                <a:solidFill>
                  <a:srgbClr val="1A202C"/>
                </a:solidFill>
                <a:latin typeface="Arial"/>
              </a:rPr>
              <a:t>- Relational models are efficient for structured analysis.</a:t>
            </a:r>
            <a:br/>
            <a:r>
              <a:rPr sz="1600">
                <a:solidFill>
                  <a:srgbClr val="1A202C"/>
                </a:solidFill>
              </a:rPr>
              <a:t>- Graph models are expressive for relationship-heavy questions.</a:t>
            </a:r>
            <a:br/>
            <a:r>
              <a:rPr sz="1600">
                <a:solidFill>
                  <a:srgbClr val="1A202C"/>
                </a:solidFill>
              </a:rPr>
              <a:t>- Use the model that matches the question.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Limitations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What could be improved with more time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4937760" cy="434340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09928"/>
            <a:ext cx="27432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148840"/>
            <a:ext cx="4251960" cy="23774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800"/>
            </a:pPr>
            <a:r>
              <a:rPr sz="1800" b="0">
                <a:solidFill>
                  <a:srgbClr val="1A202C"/>
                </a:solidFill>
                <a:latin typeface="Arial"/>
              </a:rPr>
              <a:t>- The dataset is a selected OpenAlex subset, not full OpenAlex</a:t>
            </a:r>
            <a:br/>
            <a:r>
              <a:rPr sz="1800">
                <a:solidFill>
                  <a:srgbClr val="1A202C"/>
                </a:solidFill>
              </a:rPr>
              <a:t>- Benchmark results depend on local hardware and cache state</a:t>
            </a:r>
            <a:br/>
            <a:r>
              <a:rPr sz="1800">
                <a:solidFill>
                  <a:srgbClr val="1A202C"/>
                </a:solidFill>
              </a:rPr>
              <a:t>- Neo4j overhead is visible on small datasets</a:t>
            </a:r>
            <a:br/>
            <a:r>
              <a:rPr sz="1800">
                <a:solidFill>
                  <a:srgbClr val="1A202C"/>
                </a:solidFill>
              </a:rPr>
              <a:t>- No advanced full-text/vector search layer was added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4937760" cy="4343400"/>
          </a:xfrm>
          <a:prstGeom prst="roundRect">
            <a:avLst/>
          </a:prstGeom>
          <a:solidFill>
            <a:srgbClr val="FFFDFD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09928"/>
            <a:ext cx="27432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148840"/>
            <a:ext cx="4251960" cy="23774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800"/>
            </a:pPr>
            <a:r>
              <a:rPr sz="1800" b="0">
                <a:solidFill>
                  <a:srgbClr val="1A202C"/>
                </a:solidFill>
                <a:latin typeface="Arial"/>
              </a:rPr>
              <a:t>- Increase dataset size</a:t>
            </a:r>
            <a:br/>
            <a:r>
              <a:rPr sz="1800">
                <a:solidFill>
                  <a:srgbClr val="1A202C"/>
                </a:solidFill>
              </a:rPr>
              <a:t>- Add full-text search and vector retrieval</a:t>
            </a:r>
            <a:br/>
            <a:r>
              <a:rPr sz="1800">
                <a:solidFill>
                  <a:srgbClr val="1A202C"/>
                </a:solidFill>
              </a:rPr>
              <a:t>- Tune indexes and constraints further</a:t>
            </a:r>
            <a:br/>
            <a:r>
              <a:rPr sz="1800">
                <a:solidFill>
                  <a:srgbClr val="1A202C"/>
                </a:solidFill>
              </a:rPr>
              <a:t>- Build a simple RAG search demo on top of the databases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Final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From requirements to results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325880"/>
            <a:ext cx="5166360" cy="452628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627632"/>
            <a:ext cx="32918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What we delivered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4297680" cy="2743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700"/>
            </a:pPr>
            <a:r>
              <a:rPr sz="1700" b="0">
                <a:solidFill>
                  <a:srgbClr val="1A202C"/>
                </a:solidFill>
                <a:latin typeface="Arial"/>
              </a:rPr>
              <a:t>- OpenAlex ETL pipeline</a:t>
            </a:r>
            <a:br/>
            <a:r>
              <a:rPr sz="1700">
                <a:solidFill>
                  <a:srgbClr val="1A202C"/>
                </a:solidFill>
              </a:rPr>
              <a:t>- PostgreSQL and Neo4j data models</a:t>
            </a:r>
            <a:br/>
            <a:r>
              <a:rPr sz="1700">
                <a:solidFill>
                  <a:srgbClr val="1A202C"/>
                </a:solidFill>
              </a:rPr>
              <a:t>- Docker-based reproducible setup</a:t>
            </a:r>
            <a:br/>
            <a:r>
              <a:rPr sz="1700">
                <a:solidFill>
                  <a:srgbClr val="1A202C"/>
                </a:solidFill>
              </a:rPr>
              <a:t>- Equivalent SQL and Cypher query set</a:t>
            </a:r>
            <a:br/>
            <a:r>
              <a:rPr sz="1700">
                <a:solidFill>
                  <a:srgbClr val="1A202C"/>
                </a:solidFill>
              </a:rPr>
              <a:t>- Benchmark results and interpretation</a:t>
            </a:r>
            <a:br/>
            <a:r>
              <a:rPr sz="1700">
                <a:solidFill>
                  <a:srgbClr val="1A202C"/>
                </a:solidFill>
              </a:rPr>
              <a:t>- Project report and README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325880"/>
            <a:ext cx="4617720" cy="4526280"/>
          </a:xfrm>
          <a:prstGeom prst="roundRect">
            <a:avLst/>
          </a:prstGeom>
          <a:solidFill>
            <a:srgbClr val="FFFDFD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1627632"/>
            <a:ext cx="30175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Final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148840"/>
            <a:ext cx="3840480" cy="20116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300" b="1">
                <a:solidFill>
                  <a:srgbClr val="1A202C"/>
                </a:solidFill>
                <a:latin typeface="Arial"/>
              </a:rPr>
              <a:t>PostgreSQL is the better fit for structured tabular analysis and most aggregations in our benchmark. Neo4j is more natural for graph-style questions such as citation paths and author relationship networks.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4709160"/>
            <a:ext cx="3749039" cy="5486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0">
                <a:solidFill>
                  <a:srgbClr val="5C6876"/>
                </a:solidFill>
                <a:latin typeface="Arial"/>
              </a:rPr>
              <a:t>The choice depends on the data access pattern, not on one database being universally better.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