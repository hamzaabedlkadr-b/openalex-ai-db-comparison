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pienza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4480560" cy="13459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57400"/>
            <a:ext cx="99669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52121E"/>
                </a:solidFill>
                <a:latin typeface="Arial"/>
              </a:rPr>
              <a:t>Comparison between PostgreSQL and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51760"/>
            <a:ext cx="9875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1A202C"/>
                </a:solidFill>
                <a:latin typeface="Arial"/>
              </a:rPr>
              <a:t>OpenAlex AI research paper retrieval and knowledge graph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37560"/>
            <a:ext cx="4572000" cy="1143000"/>
          </a:xfrm>
          <a:prstGeom prst="roundRect">
            <a:avLst/>
          </a:prstGeom>
          <a:solidFill>
            <a:srgbClr val="FAF7F7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387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Group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58768"/>
            <a:ext cx="3840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A202C"/>
                </a:solidFill>
                <a:latin typeface="Arial"/>
              </a:rPr>
              <a:t>Hamza Abdul Kader - 2230150</a:t>
            </a:r>
            <a:br/>
            <a:r>
              <a:t>Leonardo Marasca - 2217140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80760"/>
            <a:ext cx="4206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C6876"/>
                </a:solidFill>
                <a:latin typeface="Arial"/>
              </a:rPr>
              <a:t>Data Management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080760"/>
            <a:ext cx="3474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400" b="0">
                <a:solidFill>
                  <a:srgbClr val="5C6876"/>
                </a:solidFill>
                <a:latin typeface="Arial"/>
              </a:rPr>
              <a:t>Sapienza Universita di 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What we compare and why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Main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A202C"/>
                </a:solidFill>
                <a:latin typeface="Arial"/>
              </a:rPr>
              <a:t>Which database model is more suitable for AI research paper data: a relational DBMS or a graph database?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508760"/>
            <a:ext cx="5303520" cy="4251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83080"/>
            <a:ext cx="4114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Comparison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67712"/>
            <a:ext cx="4526280" cy="2103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2000"/>
            </a:pPr>
            <a:r>
              <a:rPr sz="2000" b="0">
                <a:solidFill>
                  <a:srgbClr val="1A202C"/>
                </a:solidFill>
                <a:latin typeface="Arial"/>
              </a:rPr>
              <a:t>- Data modeling</a:t>
            </a:r>
            <a:br/>
            <a:r>
              <a:rPr sz="2000">
                <a:solidFill>
                  <a:srgbClr val="1A202C"/>
                </a:solidFill>
              </a:rPr>
              <a:t>- Query expressiveness</a:t>
            </a:r>
            <a:br/>
            <a:r>
              <a:rPr sz="2000">
                <a:solidFill>
                  <a:srgbClr val="1A202C"/>
                </a:solidFill>
              </a:rPr>
              <a:t>- Query complexity</a:t>
            </a:r>
            <a:br/>
            <a:r>
              <a:rPr sz="2000">
                <a:solidFill>
                  <a:srgbClr val="1A202C"/>
                </a:solidFill>
              </a:rPr>
              <a:t>- Execution time</a:t>
            </a:r>
            <a:br/>
            <a:r>
              <a:rPr sz="2000">
                <a:solidFill>
                  <a:srgbClr val="1A202C"/>
                </a:solidFill>
              </a:rPr>
              <a:t>- Fit for relationship-heavy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Dataset Source: OpenAlex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Open catalog of scholarly works, authors, topics, and citations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14778"/>
            <a:ext cx="5358383" cy="2565602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openalex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2210"/>
            <a:ext cx="5303520" cy="25107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36207" y="1717327"/>
            <a:ext cx="5358384" cy="356050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openalex_data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44759"/>
            <a:ext cx="5303520" cy="3505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150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800" b="1">
                <a:solidFill>
                  <a:srgbClr val="1A202C"/>
                </a:solidFill>
                <a:latin typeface="Arial"/>
              </a:rPr>
              <a:t>Used through the OpenAlex API; subset focused on AI, ML, LLM, and RAG-related papers.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Pipeline Followed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From data source to benchmark conclusions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643" y="1143000"/>
            <a:ext cx="9342233" cy="5257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ETL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How raw OpenAlex data became database-ready files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46320" cy="443484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3474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Python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251960" cy="2743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700"/>
            </a:pPr>
            <a:r>
              <a:rPr sz="1700" b="0">
                <a:solidFill>
                  <a:srgbClr val="1A202C"/>
                </a:solidFill>
                <a:latin typeface="Arial"/>
              </a:rPr>
              <a:t>- Search OpenAlex works by AI/RAG terms</a:t>
            </a:r>
            <a:br/>
            <a:r>
              <a:rPr sz="1700">
                <a:solidFill>
                  <a:srgbClr val="1A202C"/>
                </a:solidFill>
              </a:rPr>
              <a:t>- Store raw API responses as JSONL</a:t>
            </a:r>
            <a:br/>
            <a:r>
              <a:rPr sz="1700">
                <a:solidFill>
                  <a:srgbClr val="1A202C"/>
                </a:solidFill>
              </a:rPr>
              <a:t>- Normalize nested JSON into CSV files</a:t>
            </a:r>
            <a:br/>
            <a:r>
              <a:rPr sz="1700">
                <a:solidFill>
                  <a:srgbClr val="1A202C"/>
                </a:solidFill>
              </a:rPr>
              <a:t>- Reconstruct abstracts from inverted indexes</a:t>
            </a:r>
            <a:br/>
            <a:r>
              <a:rPr sz="1700">
                <a:solidFill>
                  <a:srgbClr val="1A202C"/>
                </a:solidFill>
              </a:rPr>
              <a:t>- Load the same CSVs into both databases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17320"/>
            <a:ext cx="5440680" cy="4434840"/>
          </a:xfrm>
          <a:prstGeom prst="roundRect">
            <a:avLst/>
          </a:prstGeom>
          <a:solidFill>
            <a:srgbClr val="FFFDFD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Problems solved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2148840"/>
          <a:ext cx="4892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974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82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8223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Missing abstracts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Reconstruct from inverted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Nested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Normalize into CSV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External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</a:defRPr>
                      </a:pPr>
                      <a:r>
                        <a:t>Keep internal citation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Normalized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Current OpenAlex sample used in both databases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299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66420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3619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1,966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66420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Authors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41732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53619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1,104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166420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7063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2,077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289864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Paper-author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65176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77063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4,288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89864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Paper-topic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651760"/>
            <a:ext cx="3246120" cy="8229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7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277063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600" b="1">
                <a:solidFill>
                  <a:srgbClr val="52121E"/>
                </a:solidFill>
                <a:latin typeface="Arial"/>
              </a:rPr>
              <a:t>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898648"/>
            <a:ext cx="16002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Citation links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8860" y="4041648"/>
            <a:ext cx="4203798" cy="165506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4_processed_csv_file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292" y="4069080"/>
            <a:ext cx="4148934" cy="16002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PostgreSQL Relational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Normalized tables and bridge tables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425657"/>
            <a:ext cx="5815583" cy="423528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stgreSQL 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53089"/>
            <a:ext cx="5760720" cy="41804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325880"/>
            <a:ext cx="4526280" cy="438912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27632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57400"/>
            <a:ext cx="347472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900"/>
            </a:pPr>
            <a:r>
              <a:rPr sz="1900" b="0">
                <a:solidFill>
                  <a:srgbClr val="1A202C"/>
                </a:solidFill>
                <a:latin typeface="Arial"/>
              </a:rPr>
              <a:t>- papers</a:t>
            </a:r>
            <a:br/>
            <a:r>
              <a:rPr sz="1900">
                <a:solidFill>
                  <a:srgbClr val="1A202C"/>
                </a:solidFill>
              </a:rPr>
              <a:t>- authors</a:t>
            </a:r>
            <a:br/>
            <a:r>
              <a:rPr sz="1900">
                <a:solidFill>
                  <a:srgbClr val="1A202C"/>
                </a:solidFill>
              </a:rPr>
              <a:t>- topics</a:t>
            </a:r>
            <a:br/>
            <a:r>
              <a:rPr sz="1900">
                <a:solidFill>
                  <a:srgbClr val="1A202C"/>
                </a:solidFill>
              </a:rPr>
              <a:t>- paper_authors</a:t>
            </a:r>
            <a:br/>
            <a:r>
              <a:rPr sz="1900">
                <a:solidFill>
                  <a:srgbClr val="1A202C"/>
                </a:solidFill>
              </a:rPr>
              <a:t>- paper_topics</a:t>
            </a:r>
            <a:br/>
            <a:r>
              <a:rPr sz="1900">
                <a:solidFill>
                  <a:srgbClr val="1A202C"/>
                </a:solidFill>
              </a:rPr>
              <a:t>-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800600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Strength: structured joins and aggregations with SQL.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Neo4j Graph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Nodes and relationships are first-class objects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6451"/>
            <a:ext cx="6547103" cy="3450857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oj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13883"/>
            <a:ext cx="6492240" cy="33959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06640" y="1417320"/>
            <a:ext cx="3749039" cy="434340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691640"/>
            <a:ext cx="24688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Graph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48840"/>
            <a:ext cx="3108960" cy="1600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500"/>
            </a:pPr>
            <a:r>
              <a:rPr sz="1500" b="0">
                <a:solidFill>
                  <a:srgbClr val="1A202C"/>
                </a:solidFill>
                <a:latin typeface="Arial"/>
              </a:rPr>
              <a:t>- (Author)-[:AUTHORED]-&gt;(Paper)</a:t>
            </a:r>
            <a:br/>
            <a:r>
              <a:rPr sz="1500">
                <a:solidFill>
                  <a:srgbClr val="1A202C"/>
                </a:solidFill>
              </a:rPr>
              <a:t>- (Paper)-[:HAS_TOPIC]-&gt;(Topic)</a:t>
            </a:r>
            <a:br/>
            <a:r>
              <a:rPr sz="1500">
                <a:solidFill>
                  <a:srgbClr val="1A202C"/>
                </a:solidFill>
              </a:rPr>
              <a:t>- (Paper)-[:CITES]-&gt;(Paper)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4526280"/>
            <a:ext cx="3063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Strength: relationship-heavy traversal and visual graph exploration.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Same Data, Two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Why the model changes the query shape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relational_vs_graph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59" y="1051560"/>
            <a:ext cx="9347200" cy="5257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Implementation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Local reproducible environment with Docker Compose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367" y="1389888"/>
            <a:ext cx="10838225" cy="179222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ke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99" y="1417320"/>
            <a:ext cx="10783361" cy="1737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3703320"/>
            <a:ext cx="2926080" cy="100584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21031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PostgreSQL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51960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Relational DBMS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03320"/>
            <a:ext cx="2926080" cy="100584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886200"/>
            <a:ext cx="21031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Neo4j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251960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Graph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703320"/>
            <a:ext cx="2926080" cy="100584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886200"/>
            <a:ext cx="21031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Adminer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251960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PostgreSQL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PostgreSQL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Tables and SQL query result in Adminer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66811"/>
            <a:ext cx="6775703" cy="3653561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QL Query 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94243"/>
            <a:ext cx="6720840" cy="35986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508760"/>
            <a:ext cx="3474720" cy="1508760"/>
          </a:xfrm>
          <a:prstGeom prst="rect">
            <a:avLst/>
          </a:prstGeom>
          <a:solidFill>
            <a:srgbClr val="F7F7F7"/>
          </a:solidFill>
          <a:ln w="1587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defRPr sz="1200">
                <a:solidFill>
                  <a:srgbClr val="0F0F0F"/>
                </a:solidFill>
                <a:latin typeface="Consolas"/>
              </a:defRPr>
            </a:pPr>
            <a:r>
              <a:t>SELECT title, publication_year, cited_by_count</a:t>
            </a:r>
            <a:br/>
            <a:r>
              <a:t>FROM papers</a:t>
            </a:r>
            <a:br/>
            <a:r>
              <a:t>ORDER BY cited_by_count DESC</a:t>
            </a:r>
            <a:br/>
            <a:r>
              <a:t>LIMIT 10;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337560"/>
            <a:ext cx="352044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rial"/>
              </a:rPr>
              <a:t>This query uses the relational table of papers and orders by citation 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3786" y="4407407"/>
            <a:ext cx="2791907" cy="128930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stgreSQL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218" y="4434840"/>
            <a:ext cx="2737043" cy="1234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Neo4j Evidence: Author-Paper-Topic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Graph query with visible relationships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6669"/>
            <a:ext cx="7370064" cy="363042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oj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4101"/>
            <a:ext cx="7315200" cy="35755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508760"/>
            <a:ext cx="2834640" cy="1874519"/>
          </a:xfrm>
          <a:prstGeom prst="rect">
            <a:avLst/>
          </a:prstGeom>
          <a:solidFill>
            <a:srgbClr val="F7F7F7"/>
          </a:solidFill>
          <a:ln w="1587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defRPr sz="1100">
                <a:solidFill>
                  <a:srgbClr val="0F0F0F"/>
                </a:solidFill>
                <a:latin typeface="Consolas"/>
              </a:defRPr>
            </a:pPr>
            <a:r>
              <a:t>MATCH path =</a:t>
            </a:r>
            <a:br/>
            <a:r>
              <a:t>  (a:Author)-[:AUTHORED]-&gt;</a:t>
            </a:r>
            <a:br/>
            <a:r>
              <a:t>  (p:Paper)-[:HAS_TOPIC]-&gt;</a:t>
            </a:r>
            <a:br/>
            <a:r>
              <a:t>  (t:Topic)</a:t>
            </a:r>
            <a:br/>
            <a:r>
              <a:t>RETURN path</a:t>
            </a:r>
            <a:br/>
            <a:r>
              <a:t>LIMIT 10;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703320"/>
            <a:ext cx="283464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The query returns paths, so Neo4j shows both nodes and relationships.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Neo4j Evidence: Citation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Paper-to-paper CITES relationships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5067"/>
            <a:ext cx="7644384" cy="405934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tation 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32499"/>
            <a:ext cx="7589520" cy="4004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54480"/>
            <a:ext cx="2697480" cy="1463040"/>
          </a:xfrm>
          <a:prstGeom prst="rect">
            <a:avLst/>
          </a:prstGeom>
          <a:solidFill>
            <a:srgbClr val="F7F7F7"/>
          </a:solidFill>
          <a:ln w="1587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defRPr sz="1100">
                <a:solidFill>
                  <a:srgbClr val="0F0F0F"/>
                </a:solidFill>
                <a:latin typeface="Consolas"/>
              </a:defRPr>
            </a:pPr>
            <a:r>
              <a:t>MATCH path =</a:t>
            </a:r>
            <a:br/>
            <a:r>
              <a:t>  (p:Paper)-[:CITES]-&gt;</a:t>
            </a:r>
            <a:br/>
            <a:r>
              <a:t>  (cited:Paper)</a:t>
            </a:r>
            <a:br/>
            <a:r>
              <a:t>RETURN path</a:t>
            </a:r>
            <a:br/>
            <a:r>
              <a:t>LIMIT 20;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383280"/>
            <a:ext cx="274320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This is the graph-style view that is hard to understand from raw citation table rows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Equivalent Query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Same analytical question, SQL vs Cypher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6926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100" b="1">
                <a:solidFill>
                  <a:srgbClr val="1A202C"/>
                </a:solidFill>
                <a:latin typeface="Arial"/>
              </a:rPr>
              <a:t>Question: which authors cite other authors through their papers?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6576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PostgreSQL 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303520" cy="3154680"/>
          </a:xfrm>
          <a:prstGeom prst="rect">
            <a:avLst/>
          </a:prstGeom>
          <a:solidFill>
            <a:srgbClr val="F7F7F7"/>
          </a:solidFill>
          <a:ln w="1587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defRPr sz="800">
                <a:solidFill>
                  <a:srgbClr val="0F0F0F"/>
                </a:solidFill>
                <a:latin typeface="Consolas"/>
              </a:defRPr>
            </a:pPr>
            <a:r>
              <a:t>SELECT source_author.display_name AS citing_author,</a:t>
            </a:r>
            <a:br/>
            <a:r>
              <a:t>       target_author.display_name AS cited_author,</a:t>
            </a:r>
            <a:br/>
            <a:r>
              <a:t>       COUNT(*) AS citation_edges</a:t>
            </a:r>
            <a:br/>
            <a:r>
              <a:t>FROM paper_authors source_pa</a:t>
            </a:r>
            <a:br/>
            <a:r>
              <a:t>JOIN citations c ON c.citing_paper_id = source_pa.paper_id</a:t>
            </a:r>
            <a:br/>
            <a:r>
              <a:t>JOIN paper_authors target_pa ON target_pa.paper_id = c.cited_paper_id</a:t>
            </a:r>
            <a:br/>
            <a:r>
              <a:t>GROUP BY source_author.display_name, target_author.display_name;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36576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Neo4j Cypher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074920" cy="3154680"/>
          </a:xfrm>
          <a:prstGeom prst="rect">
            <a:avLst/>
          </a:prstGeom>
          <a:solidFill>
            <a:srgbClr val="F7F7F7"/>
          </a:solidFill>
          <a:ln w="1587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defRPr sz="900">
                <a:solidFill>
                  <a:srgbClr val="0F0F0F"/>
                </a:solidFill>
                <a:latin typeface="Consolas"/>
              </a:defRPr>
            </a:pPr>
            <a:r>
              <a:t>MATCH (source:Author)-[:AUTHORED]-&gt;(:Paper)</a:t>
            </a:r>
            <a:br/>
            <a:r>
              <a:t>      -[:CITES]-&gt;(:Paper)&lt;-[:AUTHORED]-(target:Author)</a:t>
            </a:r>
            <a:br/>
            <a:r>
              <a:t>WHERE source.author_id &lt;&gt; target.author_id</a:t>
            </a:r>
            <a:br/>
            <a:r>
              <a:t>RETURN source.display_name AS citing_author,</a:t>
            </a:r>
            <a:br/>
            <a:r>
              <a:t>       target.display_name AS cited_author,</a:t>
            </a:r>
            <a:br/>
            <a:r>
              <a:t>       count(*) AS citation_edges;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Benchmark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How the comparison was measured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4892040" cy="402336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32004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Measurement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11480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700"/>
            </a:pPr>
            <a:r>
              <a:rPr sz="1700" b="0">
                <a:solidFill>
                  <a:srgbClr val="1A202C"/>
                </a:solidFill>
                <a:latin typeface="Arial"/>
              </a:rPr>
              <a:t>- 11 main equivalent query pairs</a:t>
            </a:r>
            <a:br/>
            <a:r>
              <a:rPr sz="1700">
                <a:solidFill>
                  <a:srgbClr val="1A202C"/>
                </a:solidFill>
              </a:rPr>
              <a:t>- 9 supplemental graph-focused query pairs</a:t>
            </a:r>
            <a:br/>
            <a:r>
              <a:rPr sz="1700">
                <a:solidFill>
                  <a:srgbClr val="1A202C"/>
                </a:solidFill>
              </a:rPr>
              <a:t>- 1 warmup run and 5 measured runs</a:t>
            </a:r>
            <a:br/>
            <a:r>
              <a:rPr sz="1700">
                <a:solidFill>
                  <a:srgbClr val="1A202C"/>
                </a:solidFill>
              </a:rPr>
              <a:t>- Same generated CSV dataset</a:t>
            </a:r>
            <a:br/>
            <a:r>
              <a:rPr sz="1700">
                <a:solidFill>
                  <a:srgbClr val="1A202C"/>
                </a:solidFill>
              </a:rPr>
              <a:t>- PostgreSQL measured with EXPLAIN ANALYZE</a:t>
            </a:r>
            <a:br/>
            <a:r>
              <a:rPr sz="1700">
                <a:solidFill>
                  <a:srgbClr val="1A202C"/>
                </a:solidFill>
              </a:rPr>
              <a:t>- Neo4j measured with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4892040" cy="4023360"/>
          </a:xfrm>
          <a:prstGeom prst="roundRect">
            <a:avLst/>
          </a:prstGeom>
          <a:solidFill>
            <a:srgbClr val="FFFDFD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Important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12848"/>
            <a:ext cx="40690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100" b="1">
                <a:solidFill>
                  <a:srgbClr val="1A202C"/>
                </a:solidFill>
                <a:latin typeface="Arial"/>
              </a:rPr>
              <a:t>This is not a universal ranking of PostgreSQL and Neo4j.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40690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A202C"/>
                </a:solidFill>
                <a:latin typeface="Arial"/>
              </a:rPr>
              <a:t>It is a local comparison on the same OpenAlex AI subset, hardware, indexes, and query workload.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0233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rial"/>
              </a:rPr>
              <a:t>The main goal is to connect query shape to database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Main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Average execution time across 11 equivalent query pairs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16</a:t>
            </a:r>
          </a:p>
        </p:txBody>
      </p:sp>
      <p:pic>
        <p:nvPicPr>
          <p:cNvPr id="7" name="Picture 6" descr="benchmark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59" y="1005840"/>
            <a:ext cx="910336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Supplemental Graph-Focused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Graph-focused workload: PostgreSQL 5/9, Neo4j 4/9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17</a:t>
            </a:r>
          </a:p>
        </p:txBody>
      </p:sp>
      <p:pic>
        <p:nvPicPr>
          <p:cNvPr id="7" name="Picture 6" descr="graph_focused_benchmark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280" y="1261872"/>
            <a:ext cx="8696960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The better database depends on the query type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434340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PostgreSQL performed 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971800" cy="2468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600"/>
            </a:pPr>
            <a:r>
              <a:rPr sz="1600" b="0">
                <a:solidFill>
                  <a:srgbClr val="1A202C"/>
                </a:solidFill>
                <a:latin typeface="Arial"/>
              </a:rPr>
              <a:t>- Ranking and aggregation</a:t>
            </a:r>
            <a:br/>
            <a:r>
              <a:rPr sz="1600">
                <a:solidFill>
                  <a:srgbClr val="1A202C"/>
                </a:solidFill>
              </a:rPr>
              <a:t>- Small selective lookups</a:t>
            </a:r>
            <a:br/>
            <a:r>
              <a:rPr sz="1600">
                <a:solidFill>
                  <a:srgbClr val="1A202C"/>
                </a:solidFill>
              </a:rPr>
              <a:t>- Traditional joins</a:t>
            </a:r>
            <a:br/>
            <a:r>
              <a:rPr sz="1600">
                <a:solidFill>
                  <a:srgbClr val="1A202C"/>
                </a:solidFill>
              </a:rPr>
              <a:t>- Main workload: 10 of 11 wins</a:t>
            </a:r>
            <a:br/>
            <a:r>
              <a:rPr sz="1600">
                <a:solidFill>
                  <a:srgbClr val="1A202C"/>
                </a:solidFill>
              </a:rPr>
              <a:t>- Combined: 15 of 20 wins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29000" cy="434340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Neo4j performed best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2971800" cy="2468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600"/>
            </a:pPr>
            <a:r>
              <a:rPr sz="1600" b="0">
                <a:solidFill>
                  <a:srgbClr val="1A202C"/>
                </a:solidFill>
                <a:latin typeface="Arial"/>
              </a:rPr>
              <a:t>- Author citation network</a:t>
            </a:r>
            <a:br/>
            <a:r>
              <a:rPr sz="1600">
                <a:solidFill>
                  <a:srgbClr val="1A202C"/>
                </a:solidFill>
              </a:rPr>
              <a:t>- Multi-hop citation paths</a:t>
            </a:r>
            <a:br/>
            <a:r>
              <a:rPr sz="1600">
                <a:solidFill>
                  <a:srgbClr val="1A202C"/>
                </a:solidFill>
              </a:rPr>
              <a:t>- Citation + topic overlap</a:t>
            </a:r>
            <a:br/>
            <a:r>
              <a:rPr sz="1600">
                <a:solidFill>
                  <a:srgbClr val="1A202C"/>
                </a:solidFill>
              </a:rPr>
              <a:t>- Graph workload: 4 of 9 wins</a:t>
            </a:r>
            <a:br/>
            <a:r>
              <a:rPr sz="1600">
                <a:solidFill>
                  <a:srgbClr val="1A202C"/>
                </a:solidFill>
              </a:rPr>
              <a:t>- Combined: 5 of 20 wins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08760"/>
            <a:ext cx="3429000" cy="434340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783080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2121E"/>
                </a:solidFill>
                <a:latin typeface="Arial"/>
              </a:rPr>
              <a:t>Main lesson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14600"/>
            <a:ext cx="2971800" cy="2468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600"/>
            </a:pPr>
            <a:r>
              <a:rPr sz="1600" b="0">
                <a:solidFill>
                  <a:srgbClr val="1A202C"/>
                </a:solidFill>
                <a:latin typeface="Arial"/>
              </a:rPr>
              <a:t>- Relational models are efficient for structured analysis.</a:t>
            </a:r>
            <a:br/>
            <a:r>
              <a:rPr sz="1600">
                <a:solidFill>
                  <a:srgbClr val="1A202C"/>
                </a:solidFill>
              </a:rPr>
              <a:t>- Graph models are expressive for relationship-heavy questions.</a:t>
            </a:r>
            <a:br/>
            <a:r>
              <a:rPr sz="1600">
                <a:solidFill>
                  <a:srgbClr val="1A202C"/>
                </a:solidFill>
              </a:rPr>
              <a:t>- Use the model that matches the query shape.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What could be improved with more time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937760" cy="434340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09928"/>
            <a:ext cx="27432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251960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800"/>
            </a:pPr>
            <a:r>
              <a:rPr sz="1800" b="0">
                <a:solidFill>
                  <a:srgbClr val="1A202C"/>
                </a:solidFill>
                <a:latin typeface="Arial"/>
              </a:rPr>
              <a:t>- The dataset is a selected OpenAlex subset, not full OpenAlex</a:t>
            </a:r>
            <a:br/>
            <a:r>
              <a:rPr sz="1800">
                <a:solidFill>
                  <a:srgbClr val="1A202C"/>
                </a:solidFill>
              </a:rPr>
              <a:t>- Benchmark results depend on local hardware and cache state</a:t>
            </a:r>
            <a:br/>
            <a:r>
              <a:rPr sz="1800">
                <a:solidFill>
                  <a:srgbClr val="1A202C"/>
                </a:solidFill>
              </a:rPr>
              <a:t>- Neo4j overhead is visible on small datasets</a:t>
            </a:r>
            <a:br/>
            <a:r>
              <a:rPr sz="1800">
                <a:solidFill>
                  <a:srgbClr val="1A202C"/>
                </a:solidFill>
              </a:rPr>
              <a:t>- No advanced full-text/vector search layer was added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937760" cy="4343400"/>
          </a:xfrm>
          <a:prstGeom prst="roundRect">
            <a:avLst/>
          </a:prstGeom>
          <a:solidFill>
            <a:srgbClr val="FFFDFD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09928"/>
            <a:ext cx="27432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251960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800"/>
            </a:pPr>
            <a:r>
              <a:rPr sz="1800" b="0">
                <a:solidFill>
                  <a:srgbClr val="1A202C"/>
                </a:solidFill>
                <a:latin typeface="Arial"/>
              </a:rPr>
              <a:t>- Increase dataset size</a:t>
            </a:r>
            <a:br/>
            <a:r>
              <a:rPr sz="1800">
                <a:solidFill>
                  <a:srgbClr val="1A202C"/>
                </a:solidFill>
              </a:rPr>
              <a:t>- Add full-text search and vector retrieval</a:t>
            </a:r>
            <a:br/>
            <a:r>
              <a:rPr sz="1800">
                <a:solidFill>
                  <a:srgbClr val="1A202C"/>
                </a:solidFill>
              </a:rPr>
              <a:t>- Tune indexes and constraints further</a:t>
            </a:r>
            <a:br/>
            <a:r>
              <a:rPr sz="1800">
                <a:solidFill>
                  <a:srgbClr val="1A202C"/>
                </a:solidFill>
              </a:rPr>
              <a:t>- Build a simple RAG search demo on top of the databases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Final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From requirements to results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325880"/>
            <a:ext cx="5166360" cy="452628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32918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What we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4297680" cy="2743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700"/>
            </a:pPr>
            <a:r>
              <a:rPr sz="1700" b="0">
                <a:solidFill>
                  <a:srgbClr val="1A202C"/>
                </a:solidFill>
                <a:latin typeface="Arial"/>
              </a:rPr>
              <a:t>- OpenAlex ETL pipeline</a:t>
            </a:r>
            <a:br/>
            <a:r>
              <a:rPr sz="1700">
                <a:solidFill>
                  <a:srgbClr val="1A202C"/>
                </a:solidFill>
              </a:rPr>
              <a:t>- PostgreSQL and Neo4j data models</a:t>
            </a:r>
            <a:br/>
            <a:r>
              <a:rPr sz="1700">
                <a:solidFill>
                  <a:srgbClr val="1A202C"/>
                </a:solidFill>
              </a:rPr>
              <a:t>- Docker-based reproducible setup</a:t>
            </a:r>
            <a:br/>
            <a:r>
              <a:rPr sz="1700">
                <a:solidFill>
                  <a:srgbClr val="1A202C"/>
                </a:solidFill>
              </a:rPr>
              <a:t>- Equivalent SQL and Cypher query set</a:t>
            </a:r>
            <a:br/>
            <a:r>
              <a:rPr sz="1700">
                <a:solidFill>
                  <a:srgbClr val="1A202C"/>
                </a:solidFill>
              </a:rPr>
              <a:t>- Benchmark results and interpretation</a:t>
            </a:r>
            <a:br/>
            <a:r>
              <a:rPr sz="1700">
                <a:solidFill>
                  <a:srgbClr val="1A202C"/>
                </a:solidFill>
              </a:rPr>
              <a:t>- Project report and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4617720" cy="4526280"/>
          </a:xfrm>
          <a:prstGeom prst="roundRect">
            <a:avLst/>
          </a:prstGeom>
          <a:solidFill>
            <a:srgbClr val="FFFDFD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27632"/>
            <a:ext cx="3017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Final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37947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rial"/>
              </a:rPr>
              <a:t>PostgreSQL wins most tabular analysis.</a:t>
            </a:r>
            <a:br/>
            <a:r>
              <a:t>Neo4j wins on graph-heavy traversal.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310128"/>
            <a:ext cx="3794760" cy="1417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500"/>
            </a:pPr>
            <a:r>
              <a:rPr sz="1500" b="0">
                <a:solidFill>
                  <a:srgbClr val="1A202C"/>
                </a:solidFill>
                <a:latin typeface="Arial"/>
              </a:rPr>
              <a:t>- Main workload: PostgreSQL 10/11</a:t>
            </a:r>
            <a:br/>
            <a:r>
              <a:rPr sz="1500">
                <a:solidFill>
                  <a:srgbClr val="1A202C"/>
                </a:solidFill>
              </a:rPr>
              <a:t>- Graph-focused workload: Neo4j 4/9</a:t>
            </a:r>
            <a:br/>
            <a:r>
              <a:rPr sz="1500">
                <a:solidFill>
                  <a:srgbClr val="1A202C"/>
                </a:solidFill>
              </a:rPr>
              <a:t>- Combined result: PostgreSQL 15/20, Neo4j 5/20</a:t>
            </a:r>
            <a:br/>
            <a:r>
              <a:rPr sz="1500">
                <a:solidFill>
                  <a:srgbClr val="1A202C"/>
                </a:solidFill>
              </a:rPr>
              <a:t>- The best choice depends on query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166360"/>
            <a:ext cx="3749039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52121E"/>
                </a:solidFill>
                <a:latin typeface="Arial"/>
              </a:rPr>
              <a:t>Balanced conclusion: no system is universally better.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2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52121E"/>
                </a:solidFill>
                <a:latin typeface="Arial"/>
              </a:rPr>
              <a:t>Backup: Project Scope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876"/>
                </a:solidFill>
                <a:latin typeface="Arial"/>
              </a:rPr>
              <a:t>Why this is not an OLAP/data-warehouse project</a:t>
            </a:r>
          </a:p>
        </p:txBody>
      </p:sp>
      <p:pic>
        <p:nvPicPr>
          <p:cNvPr id="5" name="Picture 4" descr="sapienza_se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66928"/>
            <a:ext cx="566928" cy="679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5C6876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983480" cy="4526280"/>
          </a:xfrm>
          <a:prstGeom prst="roundRect">
            <a:avLst/>
          </a:prstGeom>
          <a:solidFill>
            <a:srgbClr val="FBFBFB"/>
          </a:solidFill>
          <a:ln w="15875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19072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Approved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160520" cy="2331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  <a:defRPr sz="1700"/>
            </a:pPr>
            <a:r>
              <a:rPr sz="1700" b="0">
                <a:solidFill>
                  <a:srgbClr val="1A202C"/>
                </a:solidFill>
                <a:latin typeface="Arial"/>
              </a:rPr>
              <a:t>- Project type: DBMS / NoSQL comparison</a:t>
            </a:r>
            <a:br/>
            <a:r>
              <a:rPr sz="1700">
                <a:solidFill>
                  <a:srgbClr val="1A202C"/>
                </a:solidFill>
              </a:rPr>
              <a:t>- Systems compared: PostgreSQL 16 and Neo4j 5</a:t>
            </a:r>
            <a:br/>
            <a:r>
              <a:rPr sz="1700">
                <a:solidFill>
                  <a:srgbClr val="1A202C"/>
                </a:solidFill>
              </a:rPr>
              <a:t>- Same OpenAlex CSV dataset loaded into both systems</a:t>
            </a:r>
            <a:br/>
            <a:r>
              <a:rPr sz="1700">
                <a:solidFill>
                  <a:srgbClr val="1A202C"/>
                </a:solidFill>
              </a:rPr>
              <a:t>- Evaluation: modeling, query expression, and benchmark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4983480" cy="4526280"/>
          </a:xfrm>
          <a:prstGeom prst="roundRect">
            <a:avLst/>
          </a:prstGeom>
          <a:solidFill>
            <a:srgbClr val="FFFDFD"/>
          </a:solidFill>
          <a:ln w="15875">
            <a:solidFill>
              <a:srgbClr val="EA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19072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52121E"/>
                </a:solidFill>
                <a:latin typeface="Arial"/>
              </a:rPr>
              <a:t>Therefore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16052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1A202C"/>
                </a:solidFill>
                <a:latin typeface="Arial"/>
              </a:rPr>
              <a:t>We did not design a DFM, Star schema, Snowflake schema, or OLAP sessions because those belong to a Data Warehousing project. Our equivalent analysis uses SQL and Cypher workloads instead.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4160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C6876"/>
                </a:solidFill>
                <a:latin typeface="Arial"/>
              </a:rPr>
              <a:t>If asked: the comparable concept in this project is not OLAP cubing, but relational joins versus graph traversal over the same scholarly network.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800" b="0">
                <a:solidFill>
                  <a:srgbClr val="5C6876"/>
                </a:solidFill>
                <a:latin typeface="Arial"/>
              </a:rPr>
              <a:t>OpenAlex AI DBMS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87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